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umHHHNxSHJn98BdB7Rh21qeeg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67512" y="1280160"/>
            <a:ext cx="73152" cy="3337560"/>
          </a:xfrm>
          <a:prstGeom prst="roundRect">
            <a:avLst>
              <a:gd fmla="val 162500" name="adj"/>
            </a:avLst>
          </a:prstGeom>
          <a:solidFill>
            <a:srgbClr val="65B7FF"/>
          </a:solidFill>
          <a:ln cap="flat" cmpd="sng" w="12700">
            <a:solidFill>
              <a:srgbClr val="65B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96696" y="1444752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OUTBOX PATTERN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14984" y="3767328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E3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4E3FF"/>
                </a:solidFill>
                <a:latin typeface="Arial"/>
                <a:ea typeface="Arial"/>
                <a:cs typeface="Arial"/>
                <a:sym typeface="Arial"/>
              </a:rPr>
              <a:t>Consistência entre banco de dados e eventos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fmla="val 108333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58368" y="44805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O problema: Dual Write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58368" y="1060704"/>
            <a:ext cx="960120" cy="64008"/>
          </a:xfrm>
          <a:prstGeom prst="roundRect">
            <a:avLst>
              <a:gd fmla="val 185714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822960" y="2554060"/>
            <a:ext cx="2148900" cy="1042500"/>
          </a:xfrm>
          <a:prstGeom prst="roundRect">
            <a:avLst>
              <a:gd fmla="val 11404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14400" y="2654644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API NestJS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41832" y="3011260"/>
            <a:ext cx="1911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Criação do pedido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617720" y="2179156"/>
            <a:ext cx="2514600" cy="914400"/>
          </a:xfrm>
          <a:prstGeom prst="roundRect">
            <a:avLst>
              <a:gd fmla="val 13000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709160" y="2279740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36592" y="2636356"/>
            <a:ext cx="2277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INSERT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617720" y="3523324"/>
            <a:ext cx="2514600" cy="914400"/>
          </a:xfrm>
          <a:prstGeom prst="roundRect">
            <a:avLst>
              <a:gd fmla="val 13000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709160" y="3623908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RabbitMQ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36592" y="3980524"/>
            <a:ext cx="2277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PUBLISH OrderCreated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 flipH="1" rot="10800000">
            <a:off x="2971800" y="2627092"/>
            <a:ext cx="1645800" cy="411600"/>
          </a:xfrm>
          <a:prstGeom prst="straightConnector1">
            <a:avLst/>
          </a:prstGeom>
          <a:noFill/>
          <a:ln cap="flat" cmpd="sng" w="25400">
            <a:solidFill>
              <a:srgbClr val="1764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" name="Google Shape;37;p2"/>
          <p:cNvCxnSpPr/>
          <p:nvPr/>
        </p:nvCxnSpPr>
        <p:spPr>
          <a:xfrm>
            <a:off x="2971800" y="3084412"/>
            <a:ext cx="1645800" cy="887100"/>
          </a:xfrm>
          <a:prstGeom prst="straightConnector1">
            <a:avLst/>
          </a:prstGeom>
          <a:noFill/>
          <a:ln cap="flat" cmpd="sng" w="25400">
            <a:solidFill>
              <a:srgbClr val="1764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" name="Google Shape;38;p2"/>
          <p:cNvSpPr/>
          <p:nvPr/>
        </p:nvSpPr>
        <p:spPr>
          <a:xfrm>
            <a:off x="7818120" y="2261452"/>
            <a:ext cx="3520500" cy="2377500"/>
          </a:xfrm>
          <a:prstGeom prst="roundRect">
            <a:avLst>
              <a:gd fmla="val 5000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818120" y="2261452"/>
            <a:ext cx="59400" cy="2377500"/>
          </a:xfrm>
          <a:prstGeom prst="roundRect">
            <a:avLst>
              <a:gd fmla="val 200000" name="adj"/>
            </a:avLst>
          </a:prstGeom>
          <a:solidFill>
            <a:srgbClr val="B94B4B"/>
          </a:solidFill>
          <a:ln cap="flat" cmpd="sng" w="12700">
            <a:solidFill>
              <a:srgbClr val="B9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037576" y="2444332"/>
            <a:ext cx="308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O risco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037576" y="2901532"/>
            <a:ext cx="3081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O banco confirma, mas o broker falha.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Ou o evento é enviado e a operação de negócio falha.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76656" y="1389888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Uma operação de negócio, duas escritas independentes.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500176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Não existe COMMIT atômico entre PostgreSQL e RabbitMQ.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fmla="val 108333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58368" y="44805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A solução: Transactional Outbox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58368" y="1060704"/>
            <a:ext cx="960120" cy="64008"/>
          </a:xfrm>
          <a:prstGeom prst="roundRect">
            <a:avLst>
              <a:gd fmla="val 185714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76656" y="13533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Persistir o pedido e a intenção de publicar dentro da mesma transação.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04672" y="2176272"/>
            <a:ext cx="1892808" cy="1097280"/>
          </a:xfrm>
          <a:prstGeom prst="roundRect">
            <a:avLst>
              <a:gd fmla="val 10833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96112" y="2276856"/>
            <a:ext cx="1709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23544" y="2633472"/>
            <a:ext cx="16550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BEGIN /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291840" y="2084832"/>
            <a:ext cx="2798064" cy="1280160"/>
          </a:xfrm>
          <a:prstGeom prst="roundRect">
            <a:avLst>
              <a:gd fmla="val 9286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383280" y="2185416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410712" y="2542032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orders + outbox_events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656832" y="2176272"/>
            <a:ext cx="1892808" cy="1097280"/>
          </a:xfrm>
          <a:prstGeom prst="roundRect">
            <a:avLst>
              <a:gd fmla="val 10833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748272" y="2276856"/>
            <a:ext cx="1709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Worker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775704" y="2633472"/>
            <a:ext cx="16550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Lê PENDING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189720" y="2176272"/>
            <a:ext cx="1938528" cy="1097280"/>
          </a:xfrm>
          <a:prstGeom prst="roundRect">
            <a:avLst>
              <a:gd fmla="val 10833" name="adj"/>
            </a:avLst>
          </a:prstGeom>
          <a:solidFill>
            <a:srgbClr val="DCEEFF"/>
          </a:solidFill>
          <a:ln cap="flat" cmpd="sng" w="12700">
            <a:solidFill>
              <a:srgbClr val="DC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281160" y="2276856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RabbitMQ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308592" y="2633472"/>
            <a:ext cx="17007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Evento publicado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3"/>
          <p:cNvCxnSpPr/>
          <p:nvPr/>
        </p:nvCxnSpPr>
        <p:spPr>
          <a:xfrm>
            <a:off x="2697480" y="2724912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1764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" name="Google Shape;66;p3"/>
          <p:cNvCxnSpPr/>
          <p:nvPr/>
        </p:nvCxnSpPr>
        <p:spPr>
          <a:xfrm>
            <a:off x="6089904" y="2724912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1764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" name="Google Shape;67;p3"/>
          <p:cNvCxnSpPr/>
          <p:nvPr/>
        </p:nvCxnSpPr>
        <p:spPr>
          <a:xfrm>
            <a:off x="8549640" y="272491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1764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3"/>
          <p:cNvSpPr/>
          <p:nvPr/>
        </p:nvSpPr>
        <p:spPr>
          <a:xfrm>
            <a:off x="3474720" y="3822192"/>
            <a:ext cx="5303520" cy="1042416"/>
          </a:xfrm>
          <a:prstGeom prst="roundRect">
            <a:avLst>
              <a:gd fmla="val 11404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767328" y="3959352"/>
            <a:ext cx="472744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Uma transação garante as duas gravações.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A publicação acontece depois, de forma assíncrona.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32104" y="5632704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4B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764B3"/>
                </a:solidFill>
                <a:latin typeface="Arial"/>
                <a:ea typeface="Arial"/>
                <a:cs typeface="Arial"/>
                <a:sym typeface="Arial"/>
              </a:rPr>
              <a:t>API desacoplada do RabbitMQ  •  Consistência eventual  •  Recuperação após falhas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fmla="val 108333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58368" y="44805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Três aplicações, responsabilidades claras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58368" y="1060704"/>
            <a:ext cx="960120" cy="64008"/>
          </a:xfrm>
          <a:prstGeom prst="roundRect">
            <a:avLst>
              <a:gd fmla="val 185714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749808" y="1627632"/>
            <a:ext cx="3401568" cy="2432304"/>
          </a:xfrm>
          <a:prstGeom prst="roundRect">
            <a:avLst>
              <a:gd fmla="val 4887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749808" y="1627632"/>
            <a:ext cx="59436" cy="2432304"/>
          </a:xfrm>
          <a:prstGeom prst="roundRect">
            <a:avLst>
              <a:gd fmla="val 200000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969264" y="1810512"/>
            <a:ext cx="2962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01  API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69264" y="2267712"/>
            <a:ext cx="2962656" cy="165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Recebe POST /orders.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Grava pedido e evento Outbox no mesmo COMMIT.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Não publica no RabbitMQ.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398264" y="1627632"/>
            <a:ext cx="3401568" cy="2432304"/>
          </a:xfrm>
          <a:prstGeom prst="roundRect">
            <a:avLst>
              <a:gd fmla="val 4887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398264" y="1627632"/>
            <a:ext cx="59436" cy="2432304"/>
          </a:xfrm>
          <a:prstGeom prst="roundRect">
            <a:avLst>
              <a:gd fmla="val 200000" name="adj"/>
            </a:avLst>
          </a:prstGeom>
          <a:solidFill>
            <a:srgbClr val="C27A1A"/>
          </a:solidFill>
          <a:ln cap="flat" cmpd="sng" w="12700">
            <a:solidFill>
              <a:srgbClr val="C2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617720" y="1810512"/>
            <a:ext cx="2962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02  Worker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617720" y="2267712"/>
            <a:ext cx="2962656" cy="165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Consulta eventos PENDING por polling.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Publica no RabbitMQ.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Confirma e atualiza o status.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037576" y="1627632"/>
            <a:ext cx="3401568" cy="2432304"/>
          </a:xfrm>
          <a:prstGeom prst="roundRect">
            <a:avLst>
              <a:gd fmla="val 4887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037576" y="1627632"/>
            <a:ext cx="59436" cy="2432304"/>
          </a:xfrm>
          <a:prstGeom prst="roundRect">
            <a:avLst>
              <a:gd fmla="val 200000" name="adj"/>
            </a:avLst>
          </a:prstGeom>
          <a:solidFill>
            <a:srgbClr val="177A65"/>
          </a:solidFill>
          <a:ln cap="flat" cmpd="sng" w="12700">
            <a:solidFill>
              <a:srgbClr val="17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257032" y="1810512"/>
            <a:ext cx="2962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03  Consumer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257032" y="2267712"/>
            <a:ext cx="2962656" cy="165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Recebe mensagens via push.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Processa com idempotência.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Envia ACK após concluir.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97280" y="4736592"/>
            <a:ext cx="100126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PENDING    →    PROCESSING    →    PUBLISHED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97280" y="5358384"/>
            <a:ext cx="10012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 caso de erro: retry ou FAILED após o limite de tentativas.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fmla="val 108333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58368" y="44805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Falhas, duplicidade e resiliência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58368" y="1060704"/>
            <a:ext cx="960120" cy="64008"/>
          </a:xfrm>
          <a:prstGeom prst="roundRect">
            <a:avLst>
              <a:gd fmla="val 185714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31520" y="1508760"/>
            <a:ext cx="5074920" cy="2834640"/>
          </a:xfrm>
          <a:prstGeom prst="roundRect">
            <a:avLst>
              <a:gd fmla="val 4194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31520" y="1508760"/>
            <a:ext cx="59436" cy="2834640"/>
          </a:xfrm>
          <a:prstGeom prst="roundRect">
            <a:avLst>
              <a:gd fmla="val 200000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50976" y="1691640"/>
            <a:ext cx="4636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O que a demo cobre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50976" y="2148840"/>
            <a:ext cx="463600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• ROLLBACK da transação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• RabbitMQ indisponível e recuperação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• Worker interrompido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• Publicação duplicada e idempotência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080760" y="1508760"/>
            <a:ext cx="5321808" cy="1335024"/>
          </a:xfrm>
          <a:prstGeom prst="roundRect">
            <a:avLst>
              <a:gd fmla="val 8904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080760" y="1508760"/>
            <a:ext cx="59436" cy="1335024"/>
          </a:xfrm>
          <a:prstGeom prst="roundRect">
            <a:avLst>
              <a:gd fmla="val 200000" name="adj"/>
            </a:avLst>
          </a:prstGeom>
          <a:solidFill>
            <a:srgbClr val="C27A1A"/>
          </a:solidFill>
          <a:ln cap="flat" cmpd="sng" w="12700">
            <a:solidFill>
              <a:srgbClr val="C2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300216" y="1691640"/>
            <a:ext cx="48828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Exponential Backoff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300216" y="2148840"/>
            <a:ext cx="4882896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Aumenta os intervalos de retry: 1s → 2s → 4s → 8s.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080760" y="2999232"/>
            <a:ext cx="5321808" cy="1335024"/>
          </a:xfrm>
          <a:prstGeom prst="roundRect">
            <a:avLst>
              <a:gd fmla="val 8904" name="adj"/>
            </a:avLst>
          </a:prstGeom>
          <a:solidFill>
            <a:srgbClr val="F3F8FF"/>
          </a:solidFill>
          <a:ln cap="flat" cmpd="sng" w="12700">
            <a:solidFill>
              <a:srgbClr val="BC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080760" y="2999232"/>
            <a:ext cx="59436" cy="1335024"/>
          </a:xfrm>
          <a:prstGeom prst="roundRect">
            <a:avLst>
              <a:gd fmla="val 200000" name="adj"/>
            </a:avLst>
          </a:prstGeom>
          <a:solidFill>
            <a:srgbClr val="C27A1A"/>
          </a:solidFill>
          <a:ln cap="flat" cmpd="sng" w="12700">
            <a:solidFill>
              <a:srgbClr val="C2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300216" y="3182112"/>
            <a:ext cx="48828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2A52"/>
                </a:solidFill>
                <a:latin typeface="Arial"/>
                <a:ea typeface="Arial"/>
                <a:cs typeface="Arial"/>
                <a:sym typeface="Arial"/>
              </a:rPr>
              <a:t>Circuit Breaker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300216" y="3639312"/>
            <a:ext cx="4882896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3553"/>
                </a:solidFill>
                <a:latin typeface="Arial"/>
                <a:ea typeface="Arial"/>
                <a:cs typeface="Arial"/>
                <a:sym typeface="Arial"/>
              </a:rPr>
              <a:t>Suspende chamadas temporariamente após falhas repetidas.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fmla="val 108333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58368" y="44805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52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02A52"/>
                </a:solidFill>
              </a:rPr>
              <a:t>Arquitetura da solução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58368" y="1060704"/>
            <a:ext cx="960120" cy="64008"/>
          </a:xfrm>
          <a:prstGeom prst="roundRect">
            <a:avLst>
              <a:gd fmla="val 185714" name="adj"/>
            </a:avLst>
          </a:prstGeom>
          <a:solidFill>
            <a:srgbClr val="1764B3"/>
          </a:solidFill>
          <a:ln cap="flat" cmpd="sng" w="12700">
            <a:solidFill>
              <a:srgbClr val="1764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6" title="mermaid-diagram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888" y="1103376"/>
            <a:ext cx="9333258" cy="518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2026-10-27T11:44:41Z</dcterms:created>
  <dc:creator>OpenAI</dc:creator>
</cp:coreProperties>
</file>